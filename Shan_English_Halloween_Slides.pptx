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Happy Halloween!</a:t>
            </a:r>
          </a:p>
          <a:p>
            <a:r>
              <a:t>Wave and say BOOO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Elicit: ghost, pumpkin, bat.</a:t>
            </a:r>
          </a:p>
          <a:p>
            <a:r>
              <a:t>Point and repeat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real costume photo.</a:t>
            </a:r>
          </a:p>
          <a:p>
            <a:r>
              <a:t>Ask: What can you see? A witch? A skeleton? A vampire?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spooky houses.</a:t>
            </a:r>
          </a:p>
          <a:p>
            <a:r>
              <a:t>Prompt: spooky house, scary, wow!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children at the front door. Ask: Where are the children? Model knock knock. Class knocks in the air, then says Trick or treat! Adults should accompany children when real trick-or-treating.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trick or treat together.</a:t>
            </a:r>
          </a:p>
          <a:p>
            <a:r>
              <a:t>Model: Here you go /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ghost chant/song with their crafts.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Happy Halloween and goodbye.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30–45 seconds: Halloween began a long time ago. Today people wear costumes and have fun. No detailed history for kindergarten.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E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11480" y="182880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549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5499"/>
                </a:solidFill>
                <a:latin typeface="Calibri"/>
                <a:ea typeface="Calibri"/>
                <a:cs typeface="Calibri"/>
                <a:sym typeface="Calibri"/>
              </a:rPr>
              <a:t>SHAN ENGLISH TIME  •  HALLOWEEN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94360" y="64008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792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HAPPY HALLOWEEN!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57200" y="100584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792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960120" y="14173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0835640" y="91440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792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1201400" y="132588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685800" y="59893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792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10972800" y="57607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host.png"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80160"/>
            <a:ext cx="3474720" cy="3474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mpkin.png" id="63" name="Google Shape;6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0" y="338328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t.png" id="64" name="Google Shape;6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60" y="123444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5486400" y="1828800"/>
            <a:ext cx="4846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2636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E2636"/>
                </a:solidFill>
                <a:latin typeface="Calibri"/>
                <a:ea typeface="Calibri"/>
                <a:cs typeface="Calibri"/>
                <a:sym typeface="Calibri"/>
              </a:rPr>
              <a:t>Are you ready?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5669280" y="2514600"/>
            <a:ext cx="3840600" cy="731400"/>
          </a:xfrm>
          <a:prstGeom prst="roundRect">
            <a:avLst>
              <a:gd fmla="val 16667" name="adj"/>
            </a:avLst>
          </a:prstGeom>
          <a:solidFill>
            <a:srgbClr val="141414"/>
          </a:solidFill>
          <a:ln cap="flat" cmpd="sng" w="9525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5715000" y="2633472"/>
            <a:ext cx="37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BOOOOO!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4EE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384048" y="310896"/>
            <a:ext cx="4892100" cy="768000"/>
          </a:xfrm>
          <a:prstGeom prst="roundRect">
            <a:avLst>
              <a:gd fmla="val 16667" name="adj"/>
            </a:avLst>
          </a:prstGeom>
          <a:solidFill>
            <a:srgbClr val="EA792F"/>
          </a:solidFill>
          <a:ln cap="flat" cmpd="sng" w="9525">
            <a:solidFill>
              <a:srgbClr val="EA79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658368" y="475488"/>
            <a:ext cx="4480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HAPPY HALLOWEEN!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4863" y="1600072"/>
            <a:ext cx="9083073" cy="5111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F5499"/>
                </a:solidFill>
              </a:rPr>
              <a:t>SHAN ENGLISH TIME  •  HALLOWEEN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A792F"/>
                </a:solidFill>
              </a:rPr>
              <a:t>WHAT CAN YOU SEE?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2636"/>
                </a:solidFill>
              </a:rPr>
              <a:t>Look! Point! Say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9144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325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5760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pic>
        <p:nvPicPr>
          <p:cNvPr id="11" name="Picture 10" descr="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017520" cy="3017520"/>
          </a:xfrm>
          <a:prstGeom prst="rect">
            <a:avLst/>
          </a:prstGeom>
        </p:spPr>
      </p:pic>
      <p:pic>
        <p:nvPicPr>
          <p:cNvPr id="12" name="Picture 11" descr="pump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48840"/>
            <a:ext cx="2377440" cy="2377440"/>
          </a:xfrm>
          <a:prstGeom prst="rect">
            <a:avLst/>
          </a:prstGeom>
        </p:spPr>
      </p:pic>
      <p:pic>
        <p:nvPicPr>
          <p:cNvPr id="13" name="Picture 12" descr="b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94560"/>
            <a:ext cx="219456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4937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2636"/>
                </a:solidFill>
              </a:rPr>
              <a:t>A GHOST!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937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2636"/>
                </a:solidFill>
              </a:rPr>
              <a:t>A PUMPKIN!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37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2636"/>
                </a:solidFill>
              </a:rPr>
              <a:t>A BAT!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E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/>
        </p:nvSpPr>
        <p:spPr>
          <a:xfrm>
            <a:off x="502920" y="201168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5499"/>
              </a:buClr>
              <a:buSzPts val="1300"/>
              <a:buFont typeface="Malgun Gothic"/>
              <a:buNone/>
            </a:pPr>
            <a:r>
              <a:rPr b="1" lang="en-US" sz="1300">
                <a:solidFill>
                  <a:srgbClr val="6F5499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SHAN ENGLISH TIME  •  HALLOWEEN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594360" y="640080"/>
            <a:ext cx="1005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792F"/>
              </a:buClr>
              <a:buSzPts val="3200"/>
              <a:buFont typeface="Malgun Gothic"/>
              <a:buNone/>
            </a:pPr>
            <a:r>
              <a:rPr b="1" lang="en-US" sz="3200">
                <a:solidFill>
                  <a:srgbClr val="EA792F"/>
                </a:solidFill>
                <a:latin typeface="Malgun Gothic"/>
                <a:ea typeface="Malgun Gothic"/>
                <a:cs typeface="Malgun Gothic"/>
                <a:sym typeface="Malgun Gothic"/>
              </a:rPr>
              <a:t>WHY DO WE CELEBRATE HALLOWEEN?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85800" y="1993392"/>
            <a:ext cx="10826400" cy="1280100"/>
          </a:xfrm>
          <a:prstGeom prst="roundRect">
            <a:avLst>
              <a:gd fmla="val 16667" name="adj"/>
            </a:avLst>
          </a:prstGeom>
          <a:solidFill>
            <a:srgbClr val="FFFB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1005840" y="2194560"/>
            <a:ext cx="10058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636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rgbClr val="2E2636"/>
                </a:solidFill>
                <a:latin typeface="Malgun Gothic"/>
                <a:ea typeface="Malgun Gothic"/>
                <a:cs typeface="Malgun Gothic"/>
                <a:sym typeface="Malgun Gothic"/>
              </a:rPr>
              <a:t>Halloween began a long, long time ago.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85800" y="3474720"/>
            <a:ext cx="10826400" cy="1508700"/>
          </a:xfrm>
          <a:prstGeom prst="roundRect">
            <a:avLst>
              <a:gd fmla="val 16667" name="adj"/>
            </a:avLst>
          </a:prstGeom>
          <a:solidFill>
            <a:srgbClr val="FFF6E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005840" y="3694176"/>
            <a:ext cx="10058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792F"/>
              </a:buClr>
              <a:buSzPts val="2800"/>
              <a:buFont typeface="Malgun Gothic"/>
              <a:buNone/>
            </a:pPr>
            <a:r>
              <a:rPr b="1" lang="en-US" sz="2800">
                <a:solidFill>
                  <a:srgbClr val="EA792F"/>
                </a:solidFill>
                <a:latin typeface="Malgun Gothic"/>
                <a:ea typeface="Malgun Gothic"/>
                <a:cs typeface="Malgun Gothic"/>
                <a:sym typeface="Malgun Gothic"/>
              </a:rPr>
              <a:t>Today, we dress up and have fun!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897475" y="4215375"/>
            <a:ext cx="3433500" cy="218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3850" y="4526449"/>
            <a:ext cx="2680738" cy="150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F5499"/>
                </a:solidFill>
              </a:rPr>
              <a:t>SHAN ENGLISH TIME  •  HALLOWEEN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A792F"/>
                </a:solidFill>
              </a:rPr>
              <a:t>DRESS UP!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2636"/>
                </a:solidFill>
              </a:rPr>
              <a:t>Look! Halloween costumes!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9144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325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5760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737360"/>
            <a:ext cx="6766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stume_only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74519"/>
            <a:ext cx="6492240" cy="337413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321040" y="1828800"/>
            <a:ext cx="2926080" cy="731520"/>
          </a:xfrm>
          <a:prstGeom prst="roundRect">
            <a:avLst/>
          </a:prstGeom>
          <a:solidFill>
            <a:srgbClr val="F8DD94"/>
          </a:solidFill>
          <a:ln>
            <a:solidFill>
              <a:srgbClr val="F8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84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636"/>
                </a:solidFill>
              </a:rPr>
              <a:t>What can you see?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834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A792F"/>
                </a:solidFill>
              </a:rPr>
              <a:t>A WITCH!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29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A792F"/>
                </a:solidFill>
              </a:rPr>
              <a:t>A SKELETON!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A792F"/>
                </a:solidFill>
              </a:rPr>
              <a:t>A VAMPIRE!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F5499"/>
                </a:solidFill>
              </a:rPr>
              <a:t>SHAN ENGLISH TIME  •  HALLOWEEN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A792F"/>
                </a:solidFill>
              </a:rPr>
              <a:t>SPOOKY HOUSE!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2636"/>
                </a:solidFill>
              </a:rPr>
              <a:t>Look! A spooky house!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9144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325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5760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49377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un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7" y="1892807"/>
            <a:ext cx="4718304" cy="32552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55080" y="1783080"/>
            <a:ext cx="49377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aun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892807"/>
            <a:ext cx="4718304" cy="3255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66160" y="5486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2636"/>
                </a:solidFill>
              </a:rPr>
              <a:t>Is it scary?  Ooooooo!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E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/>
        </p:nvSpPr>
        <p:spPr>
          <a:xfrm>
            <a:off x="502920" y="201168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F5499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SHAN ENGLISH TIME  •  HALLOWEEN</a:t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594360" y="640080"/>
            <a:ext cx="1005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A792F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KNOCK, KNOCK!</a:t>
            </a:r>
            <a:endParaRPr/>
          </a:p>
        </p:txBody>
      </p:sp>
      <p:sp>
        <p:nvSpPr>
          <p:cNvPr id="84" name="Google Shape;84;p3"/>
          <p:cNvSpPr txBox="1"/>
          <p:nvPr/>
        </p:nvSpPr>
        <p:spPr>
          <a:xfrm>
            <a:off x="640080" y="1353312"/>
            <a:ext cx="10058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2E2636"/>
                </a:solidFill>
                <a:latin typeface="Malgun Gothic"/>
                <a:ea typeface="Malgun Gothic"/>
                <a:cs typeface="Malgun Gothic"/>
                <a:sym typeface="Malgun Gothic"/>
              </a:rPr>
              <a:t>Look! Children are going trick-or-treating!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77240" y="1847088"/>
            <a:ext cx="7315200" cy="397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257031" y="2011680"/>
            <a:ext cx="3127200" cy="914400"/>
          </a:xfrm>
          <a:prstGeom prst="roundRect">
            <a:avLst>
              <a:gd fmla="val 16667" name="adj"/>
            </a:avLst>
          </a:prstGeom>
          <a:solidFill>
            <a:srgbClr val="FFE9C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8430768" y="2212848"/>
            <a:ext cx="2743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EA792F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Knock, knock!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8257031" y="3255264"/>
            <a:ext cx="3127200" cy="960000"/>
          </a:xfrm>
          <a:prstGeom prst="roundRect">
            <a:avLst>
              <a:gd fmla="val 16667" name="adj"/>
            </a:avLst>
          </a:prstGeom>
          <a:solidFill>
            <a:srgbClr val="EDE5F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8385048" y="3493008"/>
            <a:ext cx="2834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6F5499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Trick or treat!</a:t>
            </a:r>
            <a:endParaRPr/>
          </a:p>
        </p:txBody>
      </p:sp>
      <p:pic>
        <p:nvPicPr>
          <p:cNvPr id="90" name="Google Shape;9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750" y="2088325"/>
            <a:ext cx="6519425" cy="349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F5499"/>
                </a:solidFill>
              </a:rPr>
              <a:t>SHAN ENGLISH TIME  •  HALLOWEEN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A792F"/>
                </a:solidFill>
              </a:rPr>
              <a:t>TRICK OR TREAT!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2636"/>
                </a:solidFill>
              </a:rPr>
              <a:t>Say it together!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9144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1325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89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5760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pic>
        <p:nvPicPr>
          <p:cNvPr id="11" name="Picture 10" descr="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3291840" cy="3291840"/>
          </a:xfrm>
          <a:prstGeom prst="rect">
            <a:avLst/>
          </a:prstGeom>
        </p:spPr>
      </p:pic>
      <p:pic>
        <p:nvPicPr>
          <p:cNvPr id="12" name="Picture 11" descr="can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377440"/>
            <a:ext cx="2377440" cy="23774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29000" y="2011680"/>
            <a:ext cx="4572000" cy="868680"/>
          </a:xfrm>
          <a:prstGeom prst="roundRect">
            <a:avLst/>
          </a:prstGeom>
          <a:solidFill>
            <a:srgbClr val="EA792F"/>
          </a:solidFill>
          <a:ln>
            <a:solidFill>
              <a:srgbClr val="EA7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249424"/>
            <a:ext cx="4443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TRICK OR TREAT!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233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E2636"/>
                </a:solidFill>
              </a:rPr>
              <a:t>“Here you go!”  →  “Thank you!”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E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/>
        </p:nvSpPr>
        <p:spPr>
          <a:xfrm>
            <a:off x="411480" y="182880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F5499"/>
                </a:solidFill>
                <a:latin typeface="Calibri"/>
                <a:ea typeface="Calibri"/>
                <a:cs typeface="Calibri"/>
                <a:sym typeface="Calibri"/>
              </a:rPr>
              <a:t>SHAN ENGLISH TIME  •  HALLOWEEN</a:t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594360" y="64008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FLY, LITTLE GHOST!</a:t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685800" y="1325880"/>
            <a:ext cx="5029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2636"/>
                </a:solidFill>
                <a:latin typeface="Calibri"/>
                <a:ea typeface="Calibri"/>
                <a:cs typeface="Calibri"/>
                <a:sym typeface="Calibri"/>
              </a:rPr>
              <a:t>Hold up your hands like a ghost</a:t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457200" y="100584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960120" y="14173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✧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10835640" y="91440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11201400" y="132588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✧</a:t>
            </a:r>
            <a:endParaRPr/>
          </a:p>
        </p:txBody>
      </p:sp>
      <p:sp>
        <p:nvSpPr>
          <p:cNvPr id="99" name="Google Shape;99;p4"/>
          <p:cNvSpPr txBox="1"/>
          <p:nvPr/>
        </p:nvSpPr>
        <p:spPr>
          <a:xfrm>
            <a:off x="685800" y="59893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/>
          </a:p>
        </p:txBody>
      </p:sp>
      <p:sp>
        <p:nvSpPr>
          <p:cNvPr id="100" name="Google Shape;100;p4"/>
          <p:cNvSpPr txBox="1"/>
          <p:nvPr/>
        </p:nvSpPr>
        <p:spPr>
          <a:xfrm>
            <a:off x="10972800" y="57607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✧</a:t>
            </a:r>
            <a:endParaRPr/>
          </a:p>
        </p:txBody>
      </p:sp>
      <p:pic>
        <p:nvPicPr>
          <p:cNvPr descr="ghost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10" y="1897378"/>
            <a:ext cx="34747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4846320" y="182880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FCF9F4"/>
          </a:solidFill>
          <a:ln cap="flat" cmpd="sng" w="9525">
            <a:solidFill>
              <a:srgbClr val="FCF9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029200" y="1938528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LOW, LOW!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7452360" y="1938528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HIGH, HIGH!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846320" y="283464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FCF9F4"/>
          </a:solidFill>
          <a:ln cap="flat" cmpd="sng" w="9525">
            <a:solidFill>
              <a:srgbClr val="FCF9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5669280" y="294436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A792F"/>
                </a:solidFill>
                <a:latin typeface="Calibri"/>
                <a:ea typeface="Calibri"/>
                <a:cs typeface="Calibri"/>
                <a:sym typeface="Calibri"/>
              </a:rPr>
              <a:t>ROUND &amp; ROUND!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846320" y="3840480"/>
            <a:ext cx="5303400" cy="594300"/>
          </a:xfrm>
          <a:prstGeom prst="roundRect">
            <a:avLst>
              <a:gd fmla="val 16667" name="adj"/>
            </a:avLst>
          </a:prstGeom>
          <a:solidFill>
            <a:srgbClr val="141414"/>
          </a:solidFill>
          <a:ln cap="flat" cmpd="sng" w="9525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6217920" y="3959352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BOOOOO!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F5499"/>
                </a:solidFill>
              </a:rPr>
              <a:t>SHAN ENGLISH TIME  •  HALLOWEEN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A792F"/>
                </a:solidFill>
              </a:rPr>
              <a:t>HAPPY HALLOWEEN!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9144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1325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A792F"/>
                </a:solidFill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5760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8C8C8"/>
                </a:solidFill>
              </a:rPr>
              <a:t>✧</a:t>
            </a:r>
          </a:p>
        </p:txBody>
      </p:sp>
      <p:pic>
        <p:nvPicPr>
          <p:cNvPr id="10" name="Picture 9" descr="pump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011680" cy="2011680"/>
          </a:xfrm>
          <a:prstGeom prst="rect">
            <a:avLst/>
          </a:prstGeom>
        </p:spPr>
      </p:pic>
      <p:pic>
        <p:nvPicPr>
          <p:cNvPr id="11" name="Picture 10" descr="b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783080"/>
            <a:ext cx="1645920" cy="1645920"/>
          </a:xfrm>
          <a:prstGeom prst="rect">
            <a:avLst/>
          </a:prstGeom>
        </p:spPr>
      </p:pic>
      <p:pic>
        <p:nvPicPr>
          <p:cNvPr id="12" name="Picture 11" descr="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3749039"/>
            <a:ext cx="201168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6080" y="201168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2636"/>
                </a:solidFill>
              </a:rPr>
              <a:t>Great job, everybody!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017520"/>
            <a:ext cx="4114800" cy="822960"/>
          </a:xfrm>
          <a:prstGeom prst="roundRect">
            <a:avLst/>
          </a:prstGeom>
          <a:solidFill>
            <a:srgbClr val="EA792F"/>
          </a:solidFill>
          <a:ln>
            <a:solidFill>
              <a:srgbClr val="EA7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3255264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BYE-BYE!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